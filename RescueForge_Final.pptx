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C3E50"/>
                </a:solidFill>
                <a:latin typeface="Arial"/>
              </a:defRPr>
            </a:pPr>
            <a:r>
              <a:rPr sz="1300" b="0" i="0" u="none" strike="noStrike">
                <a:solidFill>
                  <a:srgbClr val="2C3E50"/>
                </a:solidFill>
                <a:latin typeface="Arial"/>
              </a:rPr>
              <a:t>Pipeline Duration (~12s total)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Duration (ms)</c:v>
                </c:pt>
              </c:strCache>
            </c:strRef>
          </c:tx>
          <c:spPr>
            <a:solidFill>
              <a:srgbClr val="C0392B"/>
            </a:solidFill>
            <a:effectLst>
              <a:outerShdw sx="100000" sy="100000" kx="0" ky="0" algn="bl" blurRad="76200" rotWithShape="1" dist="25400" dir="8100000">
                <a:srgbClr val="000000">
                  <a:alpha val="15000"/>
                </a:srgbClr>
              </a:outerShdw>
            </a:effectLst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C3E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DXF Parse</c:v>
                  </c:pt>
                  <c:pt idx="1">
                    <c:v>Room Detect</c:v>
                  </c:pt>
                  <c:pt idx="2">
                    <c:v>AI Classify</c:v>
                  </c:pt>
                  <c:pt idx="3">
                    <c:v>SVG Generate</c:v>
                  </c:pt>
                  <c:pt idx="4">
                    <c:v>PDF Export</c:v>
                  </c:pt>
                  <c:pt idx="5">
                    <c:v>Supplementary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500</c:v>
                </c:pt>
                <c:pt idx="1">
                  <c:v>300</c:v>
                </c:pt>
                <c:pt idx="2">
                  <c:v>5000</c:v>
                </c:pt>
                <c:pt idx="3">
                  <c:v>100</c:v>
                </c:pt>
                <c:pt idx="4">
                  <c:v>2000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C3E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C3E5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F8C8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039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73152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RescueForge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to DIN 14095 Fire Safety Plans — Powered by AI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3200400" y="3017520"/>
            <a:ext cx="274320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Siemens Hackathon 2025  |  Industrial AI Track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v0.5.0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B2838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Challenge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73152" cy="10972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23444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departments need standardized orientation plans (DIN 14095 / FKS) for every building. Creating these manually from CAD drawings is time-consuming, error-prone, and requires specialized knowledge.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256032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606040"/>
            <a:ext cx="2560320" cy="54864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9" name="Shape 7"/>
          <p:cNvSpPr/>
          <p:nvPr/>
        </p:nvSpPr>
        <p:spPr>
          <a:xfrm>
            <a:off x="1325880" y="2880360"/>
            <a:ext cx="640080" cy="640080"/>
          </a:xfrm>
          <a:prstGeom prst="ellipse">
            <a:avLst/>
          </a:prstGeom>
          <a:solidFill>
            <a:srgbClr val="E74C3C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5608" y="2990088"/>
            <a:ext cx="411480" cy="4114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94360" y="3657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Process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94360" y="4023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of work per floor plan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91840" y="2606040"/>
            <a:ext cx="256032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91840" y="2606040"/>
            <a:ext cx="2560320" cy="54864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Shape 12"/>
          <p:cNvSpPr/>
          <p:nvPr/>
        </p:nvSpPr>
        <p:spPr>
          <a:xfrm>
            <a:off x="4160520" y="2880360"/>
            <a:ext cx="640080" cy="640080"/>
          </a:xfrm>
          <a:prstGeom prst="ellipse">
            <a:avLst/>
          </a:prstGeom>
          <a:solidFill>
            <a:srgbClr val="E74C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248" y="2990088"/>
            <a:ext cx="411480" cy="4114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29000" y="3657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Required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3429000" y="4023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14095 knowledge needed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26480" y="2606040"/>
            <a:ext cx="256032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126480" y="2606040"/>
            <a:ext cx="2560320" cy="54864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1" name="Shape 17"/>
          <p:cNvSpPr/>
          <p:nvPr/>
        </p:nvSpPr>
        <p:spPr>
          <a:xfrm>
            <a:off x="6995160" y="2880360"/>
            <a:ext cx="640080" cy="640080"/>
          </a:xfrm>
          <a:prstGeom prst="ellipse">
            <a:avLst/>
          </a:prstGeom>
          <a:solidFill>
            <a:srgbClr val="E74C3C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2990088"/>
            <a:ext cx="411480" cy="4114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263640" y="3657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Error-Prone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263640" y="4023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symbols, wrong colors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Solution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603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2560320" cy="11887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2344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60020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94360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DWG/DXF building plan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or batch upload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291840" y="1188720"/>
            <a:ext cx="25603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91840" y="1188720"/>
            <a:ext cx="2560320" cy="1188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2" name="Text 9"/>
          <p:cNvSpPr/>
          <p:nvPr/>
        </p:nvSpPr>
        <p:spPr>
          <a:xfrm>
            <a:off x="3429000" y="12344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600200"/>
            <a:ext cx="640080" cy="6400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2900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Processes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3429000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cleanup, room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&amp; classification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126480" y="1188720"/>
            <a:ext cx="25603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126480" y="1188720"/>
            <a:ext cx="2560320" cy="1188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8" name="Text 14"/>
          <p:cNvSpPr/>
          <p:nvPr/>
        </p:nvSpPr>
        <p:spPr>
          <a:xfrm>
            <a:off x="6263640" y="12344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600200"/>
            <a:ext cx="640080" cy="6400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636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14095 Plan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6263640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FKS-compliant SVG + PDF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all required symbols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28803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39C12"/>
                </a:solidFill>
              </a:rPr>
              <a:t>→</a:t>
            </a:r>
            <a:endParaRPr lang="en-US" sz="2800" dirty="0"/>
          </a:p>
        </p:txBody>
      </p:sp>
      <p:sp>
        <p:nvSpPr>
          <p:cNvPr id="23" name="Text 18"/>
          <p:cNvSpPr/>
          <p:nvPr/>
        </p:nvSpPr>
        <p:spPr>
          <a:xfrm>
            <a:off x="571500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39C12"/>
                </a:solidFill>
              </a:rPr>
              <a:t>→</a:t>
            </a:r>
            <a:endParaRPr lang="en-US" sz="2800" dirty="0"/>
          </a:p>
        </p:txBody>
      </p:sp>
      <p:sp>
        <p:nvSpPr>
          <p:cNvPr id="24" name="Text 19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Processing Pipeline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10-step automated pipeline from CAD to DIN 14095 plan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280160"/>
            <a:ext cx="1554480" cy="1371600"/>
          </a:xfrm>
          <a:prstGeom prst="rect">
            <a:avLst/>
          </a:prstGeom>
          <a:solidFill>
            <a:srgbClr val="2C3E50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73736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39C12"/>
                </a:solidFill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057400" y="1280160"/>
            <a:ext cx="1554480" cy="1371600"/>
          </a:xfrm>
          <a:prstGeom prst="rect">
            <a:avLst/>
          </a:prstGeom>
          <a:solidFill>
            <a:srgbClr val="34495E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05740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DXF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05740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ezdxf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52044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39C12"/>
                </a:solidFill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840480" y="1280160"/>
            <a:ext cx="1554480" cy="1371600"/>
          </a:xfrm>
          <a:prstGeom prst="rect">
            <a:avLst/>
          </a:prstGeom>
          <a:solidFill>
            <a:srgbClr val="2C3E50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84048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4048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30352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39C12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623560" y="1280160"/>
            <a:ext cx="1554480" cy="1371600"/>
          </a:xfrm>
          <a:prstGeom prst="rect">
            <a:avLst/>
          </a:prstGeom>
          <a:solidFill>
            <a:srgbClr val="34495E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2356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62356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Shapely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08660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39C12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406640" y="1280160"/>
            <a:ext cx="1554480" cy="137160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066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40664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" y="3017520"/>
            <a:ext cx="1554480" cy="1371600"/>
          </a:xfrm>
          <a:prstGeom prst="rect">
            <a:avLst/>
          </a:prstGeom>
          <a:solidFill>
            <a:srgbClr val="27AE60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74320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Corridor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74320" y="38862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Voronoi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73736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39C12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2057400" y="3017520"/>
            <a:ext cx="1554480" cy="1371600"/>
          </a:xfrm>
          <a:prstGeom prst="rect">
            <a:avLst/>
          </a:prstGeom>
          <a:solidFill>
            <a:srgbClr val="2C3E50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057400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057400" y="38862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svgwrite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52044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39C12"/>
                </a:solidFill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3840480" y="3017520"/>
            <a:ext cx="1554480" cy="1371600"/>
          </a:xfrm>
          <a:prstGeom prst="rect">
            <a:avLst/>
          </a:prstGeom>
          <a:solidFill>
            <a:srgbClr val="34495E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840480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840480" y="38862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30352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39C12"/>
                </a:solidFill>
              </a:rPr>
              <a:t>→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5623560" y="3017520"/>
            <a:ext cx="1554480" cy="1371600"/>
          </a:xfrm>
          <a:prstGeom prst="rect">
            <a:avLst/>
          </a:prstGeom>
          <a:solidFill>
            <a:srgbClr val="2C3E50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623560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623560" y="38862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WeasyPrint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08660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39C12"/>
                </a:solidFill>
              </a:rPr>
              <a:t>→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7406640" y="3017520"/>
            <a:ext cx="1554480" cy="1371600"/>
          </a:xfrm>
          <a:prstGeom prst="rect">
            <a:avLst/>
          </a:prstGeom>
          <a:solidFill>
            <a:srgbClr val="27AE60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406640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406640" y="38862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Cover+Sit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297680" y="26060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39C12"/>
                </a:solidFill>
              </a:rPr>
              <a:t>↓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AI-Powered Room Classification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114800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Floor plan rendered as PNG with numbered rooms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Image sent to Vision API (Gemini 2.5 Flash)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AI returns room type + label for each room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Automatic retry (3x) on API failure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Heuristic fallback if AI unavailable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1188720"/>
            <a:ext cx="3840480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74920" y="1280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Room Types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4920" y="1737360"/>
            <a:ext cx="3383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Office, Corridor, Stairwell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Elevator, Bathroom, Kitchen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Storage, Technical, Server Room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Garage, Lobby, Conference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Residential, Bedroom, Living Room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Balcony, Unknown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C039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288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37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DIN 14095 / FKS Compliance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114300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1143000"/>
            <a:ext cx="2560320" cy="54864"/>
          </a:xfrm>
          <a:prstGeom prst="rect">
            <a:avLst/>
          </a:prstGeom>
          <a:solidFill>
            <a:srgbClr val="27AE60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258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6012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Walls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94360" y="17830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Double-line polygons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 9004 Signalschwarz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114300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291840" y="1143000"/>
            <a:ext cx="2560320" cy="54864"/>
          </a:xfrm>
          <a:prstGeom prst="rect">
            <a:avLst/>
          </a:prstGeom>
          <a:solidFill>
            <a:srgbClr val="27AE60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13258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79476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Walls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429000" y="17830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 3000 Feuerrot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 normal thickness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126480" y="114300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126480" y="1143000"/>
            <a:ext cx="2560320" cy="54864"/>
          </a:xfrm>
          <a:prstGeom prst="rect">
            <a:avLst/>
          </a:prstGeom>
          <a:solidFill>
            <a:srgbClr val="27AE60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325880"/>
            <a:ext cx="320040" cy="32004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62940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FKS Symbols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263640" y="17830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14034-6 compliant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Smoke, call, exits, etc.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06324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457200" y="3063240"/>
            <a:ext cx="2560320" cy="54864"/>
          </a:xfrm>
          <a:prstGeom prst="rect">
            <a:avLst/>
          </a:prstGeom>
          <a:solidFill>
            <a:srgbClr val="27AE60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3246120"/>
            <a:ext cx="320040" cy="32004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60120" y="32461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Escape Routes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594360" y="3703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Corridor centerline routing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Voronoi + NetworkX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3291840" y="306324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3291840" y="3063240"/>
            <a:ext cx="2560320" cy="54864"/>
          </a:xfrm>
          <a:prstGeom prst="rect">
            <a:avLst/>
          </a:prstGeom>
          <a:solidFill>
            <a:srgbClr val="27AE6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3246120"/>
            <a:ext cx="320040" cy="32004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3794760" y="32461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Title Block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3429000" y="3703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7200 layout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Scale, date, references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6126480" y="306324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6126480" y="3063240"/>
            <a:ext cx="2560320" cy="54864"/>
          </a:xfrm>
          <a:prstGeom prst="rect">
            <a:avLst/>
          </a:prstGeom>
          <a:solidFill>
            <a:srgbClr val="27AE60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640" y="3246120"/>
            <a:ext cx="320040" cy="32004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629400" y="32461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Coding</a:t>
            </a:r>
            <a:endParaRPr lang="en-US" sz="1400" dirty="0"/>
          </a:p>
        </p:txBody>
      </p:sp>
      <p:sp>
        <p:nvSpPr>
          <p:cNvPr id="34" name="Text 25"/>
          <p:cNvSpPr/>
          <p:nvPr/>
        </p:nvSpPr>
        <p:spPr>
          <a:xfrm>
            <a:off x="6263640" y="3703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 standard colors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corridors, red fire</a:t>
            </a:r>
            <a:endParaRPr lang="en-US" sz="1100" dirty="0"/>
          </a:p>
        </p:txBody>
      </p:sp>
      <p:sp>
        <p:nvSpPr>
          <p:cNvPr id="35" name="Text 26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Algorithms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solidFill>
            <a:srgbClr val="1B2838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097280"/>
            <a:ext cx="548640" cy="54864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207008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05156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Voronoi Medial Axis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371600" y="13716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SciPy Voronoi on corridor boundary points. Filter ridges inside polygon to extract centerline for escape routes.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1965960"/>
            <a:ext cx="8229600" cy="868680"/>
          </a:xfrm>
          <a:prstGeom prst="rect">
            <a:avLst/>
          </a:prstGeom>
          <a:solidFill>
            <a:srgbClr val="1B2838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" y="2103120"/>
            <a:ext cx="548640" cy="54864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12848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20574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Auto-Detection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371600" y="23774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all unit conversions, pick one giving 5-500m building size. Corrects wrong $INSUNITS headers.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57200" y="2971800"/>
            <a:ext cx="8229600" cy="868680"/>
          </a:xfrm>
          <a:prstGeom prst="rect">
            <a:avLst/>
          </a:prstGeom>
          <a:solidFill>
            <a:srgbClr val="1B2838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0080" y="3108960"/>
            <a:ext cx="548640" cy="54864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218688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30632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 Collision Avoidance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371600" y="33832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AABB overlap detection with 4-direction shift. Label-aware placement prevents overlapping in small rooms.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3977640"/>
            <a:ext cx="8229600" cy="868680"/>
          </a:xfrm>
          <a:prstGeom prst="rect">
            <a:avLst/>
          </a:prstGeom>
          <a:solidFill>
            <a:srgbClr val="1B2838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40080" y="4114800"/>
            <a:ext cx="548640" cy="54864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224528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371600" y="406908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Deduplication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1371600" y="43891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arc + layer + INSERT + wall-gap detections. Sort by position, merge within tolerance, prefer standard widths.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 Stack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3931920" cy="4572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070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78308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 + FastAPI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ezdxf (CAD parsing)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 File Converter (DWG)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Shapely + STRtree (geometry)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SciPy Voronoi + NetworkX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API (Gemini 2.5 Flash)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svgwrite + WeasyPrint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ThreadPoolExecutor + JobStore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188720"/>
            <a:ext cx="3931920" cy="45720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2070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&amp; Infrastructure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178308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 + React 19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+ lucide-react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+ HTTP polling fallback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Cypress E2E tests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(non-root)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CI/CD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Coolify deployment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EN/DE i18n (localStorage)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Features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74320" y="960120"/>
            <a:ext cx="2697480" cy="1737360"/>
          </a:xfrm>
          <a:prstGeom prst="rect">
            <a:avLst/>
          </a:prstGeom>
          <a:solidFill>
            <a:srgbClr val="1B2838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1143000"/>
            <a:ext cx="502920" cy="5029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097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Room Editor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1148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Reclassify rooms, regenerate plans instantly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00400" y="960120"/>
            <a:ext cx="2697480" cy="1737360"/>
          </a:xfrm>
          <a:prstGeom prst="rect">
            <a:avLst/>
          </a:prstGeom>
          <a:solidFill>
            <a:srgbClr val="1B2838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337560" y="1143000"/>
            <a:ext cx="502920" cy="5029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23444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77640" y="1097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Upload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33375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multi-floor buildings at once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960120"/>
            <a:ext cx="2697480" cy="1737360"/>
          </a:xfrm>
          <a:prstGeom prst="rect">
            <a:avLst/>
          </a:prstGeom>
          <a:solidFill>
            <a:srgbClr val="1B2838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263640" y="1143000"/>
            <a:ext cx="502920" cy="5029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3444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03720" y="1097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Progress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updates with auto HTTP fallback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274320" y="2971800"/>
            <a:ext cx="2697480" cy="1737360"/>
          </a:xfrm>
          <a:prstGeom prst="rect">
            <a:avLst/>
          </a:prstGeom>
          <a:solidFill>
            <a:srgbClr val="1B2838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11480" y="3154680"/>
            <a:ext cx="502920" cy="5029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24612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51560" y="31089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411480" y="3840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EN/DE support, German as default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3200400" y="2971800"/>
            <a:ext cx="2697480" cy="1737360"/>
          </a:xfrm>
          <a:prstGeom prst="rect">
            <a:avLst/>
          </a:prstGeom>
          <a:solidFill>
            <a:srgbClr val="1B2838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3337560" y="3154680"/>
            <a:ext cx="502920" cy="5029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246120"/>
            <a:ext cx="320040" cy="32004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3977640" y="31089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View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3337560" y="3840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 original DXF vs FKS plan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26480" y="2971800"/>
            <a:ext cx="2697480" cy="1737360"/>
          </a:xfrm>
          <a:prstGeom prst="rect">
            <a:avLst/>
          </a:prstGeom>
          <a:solidFill>
            <a:srgbClr val="1B2838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263640" y="3154680"/>
            <a:ext cx="502920" cy="5029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246120"/>
            <a:ext cx="320040" cy="32004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03720" y="31089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Plan Set</a:t>
            </a:r>
            <a:endParaRPr lang="en-US" sz="1300" dirty="0"/>
          </a:p>
        </p:txBody>
      </p:sp>
      <p:sp>
        <p:nvSpPr>
          <p:cNvPr id="32" name="Text 24"/>
          <p:cNvSpPr/>
          <p:nvPr/>
        </p:nvSpPr>
        <p:spPr>
          <a:xfrm>
            <a:off x="6263640" y="3840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plan + cover sheet + situation plan + compliance report</a:t>
            </a:r>
            <a:endParaRPr lang="en-US" sz="1100" dirty="0"/>
          </a:p>
        </p:txBody>
      </p:sp>
      <p:sp>
        <p:nvSpPr>
          <p:cNvPr id="33" name="Text 25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Testing &amp; Quality Assurance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188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039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328+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Tests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91840" y="114300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91840" y="1188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039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19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291840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Suites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26480" y="1188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039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E2E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126480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Cypress Tests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97480"/>
          <a:ext cx="7863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1206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Generator (50 tests)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SVG output, DIN title block, walls, fire features, escape routes, languages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DXF Parser (39 tests)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 classification, multilingual (EN/DE/FR/ES/VI), fire safety patterns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 Regression (24 tests)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SVG fingerprint baselines + CairoSVG pixel-based comparison (7 scenarios)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Routes (44 tests)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Upload, batch, status, download, metrics, room update, error endpoints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Corridor Routing (8 tests)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Voronoi medial axis, corridor graph, NetworkX pathfinding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Performance &amp; Architecture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45720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303520" y="1097280"/>
            <a:ext cx="34747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486400" y="1234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2-Service Architecture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669280" y="1737360"/>
            <a:ext cx="2926080" cy="64008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0" y="17373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(Next.js 15)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3000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0" y="24231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↕ HTTP/WS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669280" y="2788920"/>
            <a:ext cx="2926080" cy="64008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0" y="27889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(FastAPI)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ThreadPool + JobStore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0" y="36118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 |  Non-root  |  Coolify Deploy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Security &amp; Reliability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566928"/>
          </a:xfrm>
          <a:prstGeom prst="rect">
            <a:avLst/>
          </a:prstGeom>
          <a:solidFill>
            <a:srgbClr val="1B283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24128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9601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Headers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3474720" y="960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X-Content-Type-Options, X-Frame-Options, CSP, Referrer-Policy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1572768"/>
            <a:ext cx="8229600" cy="566928"/>
          </a:xfrm>
          <a:prstGeom prst="rect">
            <a:avLst/>
          </a:prstGeom>
          <a:solidFill>
            <a:srgbClr val="1B2838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82496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97280" y="16184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3474720" y="161848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req/60s per IP on upload endpoints, auto memory cleanup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2231136"/>
            <a:ext cx="8229600" cy="566928"/>
          </a:xfrm>
          <a:prstGeom prst="rect">
            <a:avLst/>
          </a:prstGeom>
          <a:solidFill>
            <a:srgbClr val="1B2838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40864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227685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474720" y="22768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.dwg/.dxf accepted, UUID job IDs, room type enum checks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2889504"/>
            <a:ext cx="8229600" cy="566928"/>
          </a:xfrm>
          <a:prstGeom prst="rect">
            <a:avLst/>
          </a:prstGeom>
          <a:solidFill>
            <a:srgbClr val="1B2838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999232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97280" y="293522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Configuration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3474720" y="293522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origins, credentials only with explicit origins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457200" y="3547872"/>
            <a:ext cx="8229600" cy="566928"/>
          </a:xfrm>
          <a:prstGeom prst="rect">
            <a:avLst/>
          </a:prstGeom>
          <a:solidFill>
            <a:srgbClr val="1B2838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65760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97280" y="359359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Persistence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3474720" y="35935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error.json on failure with step, elapsed time, error type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457200" y="4206240"/>
            <a:ext cx="8229600" cy="566928"/>
          </a:xfrm>
          <a:prstGeom prst="rect">
            <a:avLst/>
          </a:prstGeom>
          <a:solidFill>
            <a:srgbClr val="1B2838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315968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97280" y="42519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Non-Root Containers</a:t>
            </a:r>
            <a:endParaRPr lang="en-US" sz="1400" dirty="0"/>
          </a:p>
        </p:txBody>
      </p:sp>
      <p:sp>
        <p:nvSpPr>
          <p:cNvPr id="26" name="Text 18"/>
          <p:cNvSpPr/>
          <p:nvPr/>
        </p:nvSpPr>
        <p:spPr>
          <a:xfrm>
            <a:off x="3474720" y="4251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Production-hardened Docker with dedicated app user (UID 1000)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Web-First Integration Strategy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82296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43000"/>
            <a:ext cx="73152" cy="91440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1887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AutoCAD Plugin = Thin Client calling the same REST API. Zero duplicated logic. The pipeline is the innovation — not the client.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2011680"/>
                <a:gridCol w="2286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App (current)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browser, any device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AutoCAD Plugin (.NET)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(version-locked)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AutoCAD Desktop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 Add-in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86200"/>
            <a:ext cx="8229600" cy="1005840"/>
          </a:xfrm>
          <a:prstGeom prst="rect">
            <a:avLst/>
          </a:prstGeom>
          <a:solidFill>
            <a:srgbClr val="0F1923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0080" y="39776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Architecture: AutoCAD  →  Export DXF  →  POST /api/upload  →  WS Progress  →  Download PDF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43891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API  ·  Same Pipeline  ·  Same Results  ·  Plugin is a 200-line C# wrapper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Hackathon Deliverables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(Docker Compose, live at rescueforge.skimu.de)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room classification (Gemini 2.5 Flash Vision API)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14095 / FKS-compliant plan output (SVG + PDF)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plan set: Floor plan + Cover sheet + Situation plan + Compliance report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room editor with live regeneration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upload for multi-floor processing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328+ automated tests (19 suites) + Cypress E2E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 (GitHub Actions)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 support (EN/DE)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Corridor-centerline escape routes (Voronoi + NetworkX)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 collision avoidance + fire safety element recognition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DIN-standard scale detection (1:50 to 1:1000)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039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73152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463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RescueForge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CAD to Fire Safety Plan in Seconds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3200400" y="2834640"/>
            <a:ext cx="274320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31089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github.com/NWichter-NeoTube/RescueForge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rescueforge.skimu.de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Siemens Hackathon 2025  |  Industrial AI Track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B2838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RescueForge - Siemens Hackathon 2025</dc:title>
  <dc:subject>PptxGenJS Presentation</dc:subject>
  <dc:creator>RescueForge Team</dc:creator>
  <cp:lastModifiedBy>RescueForge Team</cp:lastModifiedBy>
  <cp:revision>1</cp:revision>
  <dcterms:created xsi:type="dcterms:W3CDTF">2026-03-14T20:51:21Z</dcterms:created>
  <dcterms:modified xsi:type="dcterms:W3CDTF">2026-03-14T20:51:21Z</dcterms:modified>
</cp:coreProperties>
</file>